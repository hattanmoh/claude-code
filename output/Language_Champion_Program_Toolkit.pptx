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98dd0e4-063a-9b9d-8cf0-678825e60814}">
          <p14:sldIdLst>
            <p14:sldId id="256"/>
            <p14:sldId id="257"/>
          </p14:sldIdLst>
        </p14:section>
        <p14:section name="Part 1 · The Pitch" id="{0a2978f5-27d3-5b69-7cc4-1ac25939b27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art 2 · Announcement Email" id="{8dac6575-1bcc-1d98-abf6-9e10566c138d}">
          <p14:sldIdLst>
            <p14:sldId id="269"/>
            <p14:sldId id="270"/>
            <p14:sldId id="271"/>
          </p14:sldIdLst>
        </p14:section>
        <p14:section name="Part 3 · Selection Criteria" id="{443a2ac1-d47c-3824-6ded-7d1be7856560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Launch" id="{bfe47bc6-7796-27e0-55f5-55807c4ea521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toolkit has three parts: the pitch deck that introduces the program, the company-wide announcement email, and the committee's selection criteria. Language Champions are the fluent colleagues who teach; learners are the colleagues who join their classes. There are 10 Champion places: two for each of the five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orient the audience. The naming strip matters: Champions teach, learners learn. Keep the terms consistent across the email, the Passport and every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is the pitch itself: present slides 4 to 13 at town halls, shift huddles and team meetings.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people, not the program. More than 31 nationalities work side by side at AMP-2. Optional: add a photo of a mixed team on the shop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learner picks one of the five languages. Avoid national flags on this slide: each language is spoken across many countries. The shared-words strip is a quick confidence boost: the languages already overlap. Fill in the rationale for the five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learning works because the teacher lives the language and knows the workplace. Each session follows the same loop: learn, practice, use,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sessions, about ten words each, grouped by practical theme. Champions sign a Passport checkpoint every two sessions: five checkpoints of 20 words make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Champion is a peer, not a professional teacher. Stress that L&amp;D trains every Champion and provides the session kit, so fluency and goodwill are what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responsibilities, all supported: L&amp;D provides the session template, and each language has two Champions who share the load. Confirm the session length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Rewards are growth and recognition, not cash. The three pillars match the email: skill development, recognition and networking.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process is short and transparent: the criteria are published in the email and used by the committee. Unselected applicants stay involved as Native Buddies.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October is recruitment and preparation; the program itself runs November to December. Add the kickoff date once it is locked at the co-design workshop on 18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pitch with one action. Replace the QR placeholder with the code for the registration link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is the announcement email. The full text is in the speaker notes of the next slide, ready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EMAIL TEXT, ready to copy:
Subject: Speak Arabic, Turkish, French, Urdu or Spanish? Become a Language Champion
Alternative subject: Your language can connect our team. Apply by Monday 12 October
Preview text: We're looking for 10 colleagues to teach their language to the team.
Dear colleagues,
Every day, more than 31 nationalities work side by side at AMP-2. Today we're turning that diversity into connection.
We're launching Language Champion, a peer-to-peer learning program where colleagues teach colleagues: 100 words, 10 sessions, one language at a time. To make it happen, we're looking for 10 Language Champions, two for each of our five languages, to lead the sessions and share their culture with the team.
APPLY HERE: [INSERT REGISTRATION LINK]
Deadline: Monday 12 October, end of shift
OUR FIVE LANGUAGES
- Arabic (marhaba)
- Turkish (merhaba)
- French (bonjour)
- Urdu (khush amadeed)
- Spanish (hola)
WHO SHOULD APPLY
- You speak one of the five languages natively or fluently
- You enjoy helping others learn, and you are patient and encouraging
- You can explain things clearly and simply
- You can commit to all 10 sessions (November to December), plus orientation on Wednesday 14 October and a planning workshop on Sunday 18 October
No teaching experience is needed. Our L&amp;D team will train you and give you a ready-made session kit.
WHAT YOU'LL GAIN
- Skill development: facilitation and coaching training, plus real experience leading a group
- Recognition: an official Champion pin, a certificate and leadership appreciation at our December celebration
- Networking: new connections across every shop, department and nationality, and visibility with site leadership
HOW SELECTION WORKS
1. Apply through the link above by Monday 12 October.
2. A committee from HR, L&amp;D and site leadership scores every application against clear, published criteria: language proficiency, teaching and mentoring willingness, communication skills, and availability.
3. Shortlisted applicants are invited to a friendly 10-minute conversation on Tuesday 13 October.
4. Everyone hears back by the end of Tuesday 13 October.
If you aren't selected this round, we'll invite you to be a Native Buddy, helping learners practice between sessions.
Want to learn instead? Learner registration opens on the same day: [INSERT LEARNER REGISTRATION LINK].
Every new word creates a new connection. Thank you for helping us build one stronger team.
Warm regards,
[Sender name]
[Title], AMP-2 Lucid KSA
Questions? Contact [HR contact name] at [email or extension].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blocks below the call to action. Keep the email scannable: bold mini-headings, short bullets, and the registration link near the top. Saying clearly that no teaching experience is needed widens the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is the committee's framework: gates, scorecard, conversation, decision rules and a scoring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Gates are pass or fail and come before any scoring. The native-speaker assessors solve a practical problem: most committee members will not speak all five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Proficiency carries the most weight, but teaching willingness and communication together count for 50 points: a fluent speaker who cannot explain simply will struggle as a Champion.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each criterion straight after the conversation, while it is fresh. The teach-back is the best single signal for both communication and teaching 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60-point minimum is a suggestion: set the final threshold before scoring starts, not after seeing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one sheet per committee member, or copy the table into Excel. Each member fills it independently before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bracketed placeholder in the deck and the email is listed here. Brief line managers before the email goes out so release conversations are easy.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4" name="Image 0" descr="/home/claude/claude-code/assets/lucid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457200"/>
            <a:ext cx="1280160" cy="8138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400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CHAMPION  ·  PROGRAM TOOLKIT  ·  AMP-2 LUCID KSA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AND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4" name="Image 0" descr="/home/claude/claude-code/assets/lucid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457200"/>
            <a:ext cx="1280160" cy="8138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400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CHAMPION  ·  PROGRAM TOOLKIT  ·  AMP-2 LUCID KSA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aude-code/assets/luci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1463040" cy="9326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1783080"/>
            <a:ext cx="603504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3657600"/>
            <a:ext cx="58521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31520" y="438912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aude-code/assets/luci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457200"/>
            <a:ext cx="1280160" cy="8138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9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2880360"/>
            <a:ext cx="100584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6400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CHAMPION  ·  PROGRAM TOOLKIT  ·  AMP-2 LUCID KSA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4" name="Image 0" descr="/home/claude/claude-code/assets/luci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457200"/>
            <a:ext cx="1280160" cy="8138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4008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CHAMPION  ·  PROGRAM TOOLKIT  ·  AMP-2 LUCID KSA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AMP-2 LUCID KSA  ·  LEARNING &amp; DEVELOPMENT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1783080"/>
            <a:ext cx="6035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Champion</a:t>
            </a:r>
            <a:endParaRPr lang="en-US" sz="5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36576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Learn. Connect. Belong.</a:t>
            </a:r>
            <a:endParaRPr lang="en-US" sz="26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731520" y="4389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toolkit: pitch deck, announcement email and committee selection criteria</a:t>
            </a:r>
            <a:endParaRPr lang="en-US" sz="1600" dirty="0"/>
          </a:p>
        </p:txBody>
      </p:sp>
      <p:sp>
        <p:nvSpPr>
          <p:cNvPr id="6" name="Backdrop circle"/>
          <p:cNvSpPr/>
          <p:nvPr/>
        </p:nvSpPr>
        <p:spPr>
          <a:xfrm>
            <a:off x="6903720" y="868680"/>
            <a:ext cx="5029200" cy="5029200"/>
          </a:xfrm>
          <a:prstGeom prst="ellipse">
            <a:avLst/>
          </a:prstGeom>
          <a:solidFill>
            <a:schemeClr val="accent3">
              <a:alpha val="45000"/>
            </a:schemeClr>
          </a:solidFill>
          <a:ln/>
        </p:spPr>
      </p:sp>
      <p:sp>
        <p:nvSpPr>
          <p:cNvPr id="7" name="Greeting ARABIC"/>
          <p:cNvSpPr/>
          <p:nvPr/>
        </p:nvSpPr>
        <p:spPr>
          <a:xfrm>
            <a:off x="7269480" y="1280160"/>
            <a:ext cx="2103120" cy="960120"/>
          </a:xfrm>
          <a:prstGeom prst="roundRect">
            <a:avLst>
              <a:gd name="adj" fmla="val 209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269480" y="138988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مرحبا</a:t>
            </a:r>
            <a:endParaRPr lang="en-US" sz="26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</a:t>
            </a:r>
            <a:endParaRPr lang="en-US" sz="2600" dirty="0"/>
          </a:p>
        </p:txBody>
      </p:sp>
      <p:sp>
        <p:nvSpPr>
          <p:cNvPr id="9" name="Greeting TURKISH"/>
          <p:cNvSpPr/>
          <p:nvPr/>
        </p:nvSpPr>
        <p:spPr>
          <a:xfrm>
            <a:off x="9601200" y="1645920"/>
            <a:ext cx="2103120" cy="960120"/>
          </a:xfrm>
          <a:prstGeom prst="roundRect">
            <a:avLst>
              <a:gd name="adj" fmla="val 2095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0" y="17556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Merhaba</a:t>
            </a:r>
            <a:endParaRPr lang="en-US" sz="26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TURKISH</a:t>
            </a:r>
            <a:endParaRPr lang="en-US" sz="2600" dirty="0"/>
          </a:p>
        </p:txBody>
      </p:sp>
      <p:sp>
        <p:nvSpPr>
          <p:cNvPr id="11" name="Greeting FRENCH"/>
          <p:cNvSpPr/>
          <p:nvPr/>
        </p:nvSpPr>
        <p:spPr>
          <a:xfrm>
            <a:off x="6949440" y="2560320"/>
            <a:ext cx="2194560" cy="960120"/>
          </a:xfrm>
          <a:prstGeom prst="roundRect">
            <a:avLst>
              <a:gd name="adj" fmla="val 2095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49440" y="26700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Bonjour</a:t>
            </a:r>
            <a:endParaRPr lang="en-US" sz="26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</a:t>
            </a:r>
            <a:endParaRPr lang="en-US" sz="2600" dirty="0"/>
          </a:p>
        </p:txBody>
      </p:sp>
      <p:sp>
        <p:nvSpPr>
          <p:cNvPr id="13" name="Greeting URDU"/>
          <p:cNvSpPr/>
          <p:nvPr/>
        </p:nvSpPr>
        <p:spPr>
          <a:xfrm>
            <a:off x="9326880" y="2926080"/>
            <a:ext cx="2514600" cy="960120"/>
          </a:xfrm>
          <a:prstGeom prst="roundRect">
            <a:avLst>
              <a:gd name="adj" fmla="val 209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26880" y="303580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خوش آمدید</a:t>
            </a:r>
            <a:endParaRPr lang="en-US" sz="26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URDU</a:t>
            </a:r>
            <a:endParaRPr lang="en-US" sz="2600" dirty="0"/>
          </a:p>
        </p:txBody>
      </p:sp>
      <p:sp>
        <p:nvSpPr>
          <p:cNvPr id="15" name="Greeting SPANISH"/>
          <p:cNvSpPr/>
          <p:nvPr/>
        </p:nvSpPr>
        <p:spPr>
          <a:xfrm>
            <a:off x="7589520" y="3931920"/>
            <a:ext cx="1828800" cy="960120"/>
          </a:xfrm>
          <a:prstGeom prst="roundRect">
            <a:avLst>
              <a:gd name="adj" fmla="val 2095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589520" y="40416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Hola</a:t>
            </a:r>
            <a:endParaRPr lang="en-US" sz="26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</a:t>
            </a:r>
            <a:endParaRPr lang="en-US" sz="2600" dirty="0"/>
          </a:p>
        </p:txBody>
      </p:sp>
      <p:sp>
        <p:nvSpPr>
          <p:cNvPr id="17" name="Seal"/>
          <p:cNvSpPr/>
          <p:nvPr/>
        </p:nvSpPr>
        <p:spPr>
          <a:xfrm rot="-480000">
            <a:off x="10012680" y="4251960"/>
            <a:ext cx="1280160" cy="12801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10012680" y="4343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  <a:p>
            <a:pPr algn="ctr" indent="0" marL="0">
              <a:buNone/>
            </a:pPr>
            <a:r>
              <a:rPr lang="en-US" sz="9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This Toolkit</a:t>
            </a:r>
            <a:endParaRPr lang="en-US" sz="3000" dirty="0"/>
          </a:p>
        </p:txBody>
      </p:sp>
      <p:sp>
        <p:nvSpPr>
          <p:cNvPr id="4" name="Toolkit card 01"/>
          <p:cNvSpPr/>
          <p:nvPr/>
        </p:nvSpPr>
        <p:spPr>
          <a:xfrm>
            <a:off x="548640" y="1691640"/>
            <a:ext cx="3484778" cy="3520440"/>
          </a:xfrm>
          <a:prstGeom prst="roundRect">
            <a:avLst>
              <a:gd name="adj" fmla="val 262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842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981858" y="198424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ChalkboardTeach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4738" y="21671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283464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Pitch Deck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657600"/>
            <a:ext cx="28446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slides on the program, the five languages, the Champion role, selection and the timeline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4690872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8680" y="46908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4–13</a:t>
            </a:r>
            <a:endParaRPr lang="en-US" sz="1200" dirty="0"/>
          </a:p>
        </p:txBody>
      </p:sp>
      <p:sp>
        <p:nvSpPr>
          <p:cNvPr id="12" name="Toolkit card 02"/>
          <p:cNvSpPr/>
          <p:nvPr/>
        </p:nvSpPr>
        <p:spPr>
          <a:xfrm>
            <a:off x="4353458" y="1691640"/>
            <a:ext cx="3484778" cy="3520440"/>
          </a:xfrm>
          <a:prstGeom prst="roundRect">
            <a:avLst>
              <a:gd name="adj" fmla="val 2624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73498" y="19842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6786677" y="198424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EnvelopeOpenTex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557" y="216712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73498" y="283464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Announcement Email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4673498" y="3657600"/>
            <a:ext cx="28446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company-wide call for Champions with the registration link, benefits and selection steps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673498" y="4690872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673498" y="46908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15–16</a:t>
            </a:r>
            <a:endParaRPr lang="en-US" sz="1200" dirty="0"/>
          </a:p>
        </p:txBody>
      </p:sp>
      <p:sp>
        <p:nvSpPr>
          <p:cNvPr id="20" name="Toolkit card 03"/>
          <p:cNvSpPr/>
          <p:nvPr/>
        </p:nvSpPr>
        <p:spPr>
          <a:xfrm>
            <a:off x="8158277" y="1691640"/>
            <a:ext cx="3484778" cy="3520440"/>
          </a:xfrm>
          <a:prstGeom prst="roundRect">
            <a:avLst>
              <a:gd name="adj" fmla="val 2624"/>
            </a:avLst>
          </a:prstGeom>
          <a:solidFill>
            <a:schemeClr val="bg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478317" y="19842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Shape 18"/>
          <p:cNvSpPr/>
          <p:nvPr/>
        </p:nvSpPr>
        <p:spPr>
          <a:xfrm>
            <a:off x="10591495" y="198424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2" descr="Clipboard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2167128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478317" y="283464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Selection Criteria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8478317" y="3657600"/>
            <a:ext cx="28446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gates, a 100-point scorecard, a 10-minute conversation and clear decision rules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478317" y="4690872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8478317" y="46908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18–22</a:t>
            </a:r>
            <a:endParaRPr lang="en-US" sz="1200" dirty="0"/>
          </a:p>
        </p:txBody>
      </p:sp>
      <p:sp>
        <p:nvSpPr>
          <p:cNvPr id="28" name="Naming strip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Champions</a:t>
            </a:r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fluent colleagues who teach</a:t>
            </a:r>
            <a:pPr algn="ctr"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·        </a:t>
            </a:r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</a:t>
            </a:r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colleagues who join their classes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417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880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Pitch Deck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3886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the program and recruit our first 10 Language Champions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Team, Many Voices</a:t>
            </a:r>
            <a:endParaRPr lang="en-US" sz="3000" dirty="0"/>
          </a:p>
        </p:txBody>
      </p:sp>
      <p:sp>
        <p:nvSpPr>
          <p:cNvPr id="4" name="Stat backdrop"/>
          <p:cNvSpPr/>
          <p:nvPr/>
        </p:nvSpPr>
        <p:spPr>
          <a:xfrm>
            <a:off x="685800" y="1691640"/>
            <a:ext cx="3383280" cy="33832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5146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31+</a:t>
            </a:r>
            <a:endParaRPr lang="en-US" sz="10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257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NATIONALITIES WORK SIDE BY SIDE AT AMP-2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GlobeAmerica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9270" y="2023110"/>
            <a:ext cx="388620" cy="3886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46520" y="182880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diversity is a strength we use every day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394960" y="31089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Handshak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270" y="33032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46520" y="310896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language turns that strength into real connection across shops, departments and shifts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5394960" y="43891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270" y="4583430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46520" y="438912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teachers we need already work here: our own people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Five Target Languages</a:t>
            </a:r>
            <a:endParaRPr lang="en-US" sz="3000" dirty="0"/>
          </a:p>
        </p:txBody>
      </p:sp>
      <p:sp>
        <p:nvSpPr>
          <p:cNvPr id="4" name="Language ARABIC"/>
          <p:cNvSpPr/>
          <p:nvPr/>
        </p:nvSpPr>
        <p:spPr>
          <a:xfrm>
            <a:off x="548640" y="1645920"/>
            <a:ext cx="2036003" cy="2286000"/>
          </a:xfrm>
          <a:prstGeom prst="roundRect">
            <a:avLst>
              <a:gd name="adj" fmla="val 44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0360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مرحبا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marhaba · hello</a:t>
            </a:r>
            <a:endParaRPr lang="en-US" sz="1300" dirty="0"/>
          </a:p>
        </p:txBody>
      </p:sp>
      <p:sp>
        <p:nvSpPr>
          <p:cNvPr id="8" name="Language TURKISH"/>
          <p:cNvSpPr/>
          <p:nvPr/>
        </p:nvSpPr>
        <p:spPr>
          <a:xfrm>
            <a:off x="2813243" y="1645920"/>
            <a:ext cx="2036003" cy="2286000"/>
          </a:xfrm>
          <a:prstGeom prst="roundRect">
            <a:avLst>
              <a:gd name="adj" fmla="val 44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813243" y="1965960"/>
            <a:ext cx="20360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Merhaba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13243" y="288036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TURKISH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50403" y="320040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 · hello</a:t>
            </a:r>
            <a:endParaRPr lang="en-US" sz="1300" dirty="0"/>
          </a:p>
        </p:txBody>
      </p:sp>
      <p:sp>
        <p:nvSpPr>
          <p:cNvPr id="12" name="Language FRENCH"/>
          <p:cNvSpPr/>
          <p:nvPr/>
        </p:nvSpPr>
        <p:spPr>
          <a:xfrm>
            <a:off x="5077846" y="1645920"/>
            <a:ext cx="2036003" cy="2286000"/>
          </a:xfrm>
          <a:prstGeom prst="roundRect">
            <a:avLst>
              <a:gd name="adj" fmla="val 44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77846" y="1965960"/>
            <a:ext cx="20360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Bonjour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077846" y="288036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15006" y="320040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bonjour · good day</a:t>
            </a:r>
            <a:endParaRPr lang="en-US" sz="1300" dirty="0"/>
          </a:p>
        </p:txBody>
      </p:sp>
      <p:sp>
        <p:nvSpPr>
          <p:cNvPr id="16" name="Language URDU"/>
          <p:cNvSpPr/>
          <p:nvPr/>
        </p:nvSpPr>
        <p:spPr>
          <a:xfrm>
            <a:off x="7342449" y="1645920"/>
            <a:ext cx="2036003" cy="2286000"/>
          </a:xfrm>
          <a:prstGeom prst="roundRect">
            <a:avLst>
              <a:gd name="adj" fmla="val 44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42449" y="1965960"/>
            <a:ext cx="20360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خوش آمدید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42449" y="288036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URDU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79609" y="320040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khush amadeed · welcome</a:t>
            </a:r>
            <a:endParaRPr lang="en-US" sz="1300" dirty="0"/>
          </a:p>
        </p:txBody>
      </p:sp>
      <p:sp>
        <p:nvSpPr>
          <p:cNvPr id="20" name="Language SPANISH"/>
          <p:cNvSpPr/>
          <p:nvPr/>
        </p:nvSpPr>
        <p:spPr>
          <a:xfrm>
            <a:off x="9607052" y="1645920"/>
            <a:ext cx="2036003" cy="2286000"/>
          </a:xfrm>
          <a:prstGeom prst="roundRect">
            <a:avLst>
              <a:gd name="adj" fmla="val 44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7052" y="1965960"/>
            <a:ext cx="20360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Hola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607052" y="288036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744212" y="3200400"/>
            <a:ext cx="1761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 · hi</a:t>
            </a:r>
            <a:endParaRPr lang="en-US" sz="1300" dirty="0"/>
          </a:p>
        </p:txBody>
      </p:sp>
      <p:sp>
        <p:nvSpPr>
          <p:cNvPr id="24" name="Shared words panel"/>
          <p:cNvSpPr/>
          <p:nvPr/>
        </p:nvSpPr>
        <p:spPr>
          <a:xfrm>
            <a:off x="548640" y="4160520"/>
            <a:ext cx="11094415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3434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WE ALREADY SHARE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Arabic · Turkish · Urdu · French · Spanish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75488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Sugar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6636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sukkar · şeker · shakar · sucre · azúcar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75378" y="475488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475378" y="516636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qahwa · kahve · kaafi · café · café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82077" y="4754880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082077" y="516636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shay · çay · chai · thé · té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five: [add rationale, e.g., most-spoken languages on site]   ·   Each learner chooses one language for the full program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Power of Peer-to-Peer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10 practical words per session from a fluent colleague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892808"/>
            <a:ext cx="219456" cy="32918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9" name="Shape 7"/>
          <p:cNvSpPr/>
          <p:nvPr/>
        </p:nvSpPr>
        <p:spPr>
          <a:xfrm>
            <a:off x="3423514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351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292194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23514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Games, role-play and Native Buddy chats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3834" y="1892808"/>
            <a:ext cx="219456" cy="32918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8387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98387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67067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98387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conversations at work, in the canteen and on the 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58707" y="1892808"/>
            <a:ext cx="219456" cy="32918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9" name="Shape 17"/>
          <p:cNvSpPr/>
          <p:nvPr/>
        </p:nvSpPr>
        <p:spPr>
          <a:xfrm>
            <a:off x="9173261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73261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0041941" y="1691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progress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73261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word logged and signed in the Language Passport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566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24" name="Value Authentic"/>
          <p:cNvSpPr/>
          <p:nvPr/>
        </p:nvSpPr>
        <p:spPr>
          <a:xfrm>
            <a:off x="548640" y="3886200"/>
            <a:ext cx="2036003" cy="2148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0" descr="Commen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4320540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22960" y="4937760"/>
            <a:ext cx="14873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257800"/>
            <a:ext cx="14873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everyday language, not textbook phrases</a:t>
            </a:r>
            <a:endParaRPr lang="en-US" sz="1300" dirty="0"/>
          </a:p>
        </p:txBody>
      </p:sp>
      <p:sp>
        <p:nvSpPr>
          <p:cNvPr id="29" name="Value Practical"/>
          <p:cNvSpPr/>
          <p:nvPr/>
        </p:nvSpPr>
        <p:spPr>
          <a:xfrm>
            <a:off x="2813243" y="3886200"/>
            <a:ext cx="2036003" cy="2148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30" name="Shape 27"/>
          <p:cNvSpPr/>
          <p:nvPr/>
        </p:nvSpPr>
        <p:spPr>
          <a:xfrm>
            <a:off x="3087563" y="4160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1" descr="Briefca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583" y="4320540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3087563" y="4937760"/>
            <a:ext cx="14873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3087563" y="5257800"/>
            <a:ext cx="14873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Workplace-ready words from day one</a:t>
            </a:r>
            <a:endParaRPr lang="en-US" sz="1300" dirty="0"/>
          </a:p>
        </p:txBody>
      </p:sp>
      <p:sp>
        <p:nvSpPr>
          <p:cNvPr id="34" name="Value Cultural"/>
          <p:cNvSpPr/>
          <p:nvPr/>
        </p:nvSpPr>
        <p:spPr>
          <a:xfrm>
            <a:off x="5077846" y="3886200"/>
            <a:ext cx="2036003" cy="2148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35" name="Shape 31"/>
          <p:cNvSpPr/>
          <p:nvPr/>
        </p:nvSpPr>
        <p:spPr>
          <a:xfrm>
            <a:off x="5352166" y="4160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mage 2" descr="GlobeAmerica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186" y="4320540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352166" y="4937760"/>
            <a:ext cx="14873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</a:t>
            </a:r>
            <a:endParaRPr lang="en-US" sz="1500" dirty="0"/>
          </a:p>
        </p:txBody>
      </p:sp>
      <p:sp>
        <p:nvSpPr>
          <p:cNvPr id="38" name="Text 33"/>
          <p:cNvSpPr txBox="1"/>
          <p:nvPr/>
        </p:nvSpPr>
        <p:spPr>
          <a:xfrm>
            <a:off x="5352166" y="5257800"/>
            <a:ext cx="14873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shared with every word</a:t>
            </a:r>
            <a:endParaRPr lang="en-US" sz="1300" dirty="0"/>
          </a:p>
        </p:txBody>
      </p:sp>
      <p:sp>
        <p:nvSpPr>
          <p:cNvPr id="39" name="Value Connected"/>
          <p:cNvSpPr/>
          <p:nvPr/>
        </p:nvSpPr>
        <p:spPr>
          <a:xfrm>
            <a:off x="7342449" y="3886200"/>
            <a:ext cx="2036003" cy="2148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40" name="Shape 35"/>
          <p:cNvSpPr/>
          <p:nvPr/>
        </p:nvSpPr>
        <p:spPr>
          <a:xfrm>
            <a:off x="7616769" y="4160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1" name="Image 3" descr="Handshak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789" y="4320540"/>
            <a:ext cx="320040" cy="320040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7616769" y="4937760"/>
            <a:ext cx="14873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7616769" y="5257800"/>
            <a:ext cx="14873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Bonds across teams that rarely meet</a:t>
            </a:r>
            <a:endParaRPr lang="en-US" sz="1300" dirty="0"/>
          </a:p>
        </p:txBody>
      </p:sp>
      <p:sp>
        <p:nvSpPr>
          <p:cNvPr id="44" name="Value Home-grown"/>
          <p:cNvSpPr/>
          <p:nvPr/>
        </p:nvSpPr>
        <p:spPr>
          <a:xfrm>
            <a:off x="9607052" y="3886200"/>
            <a:ext cx="2036003" cy="2148840"/>
          </a:xfrm>
          <a:prstGeom prst="roundRect">
            <a:avLst>
              <a:gd name="adj" fmla="val 4491"/>
            </a:avLst>
          </a:prstGeom>
          <a:solidFill>
            <a:schemeClr val="bg2"/>
          </a:solidFill>
          <a:ln/>
        </p:spPr>
      </p:sp>
      <p:sp>
        <p:nvSpPr>
          <p:cNvPr id="45" name="Shape 39"/>
          <p:cNvSpPr/>
          <p:nvPr/>
        </p:nvSpPr>
        <p:spPr>
          <a:xfrm>
            <a:off x="9881372" y="4160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6" name="Image 4" descr="Seedl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1392" y="4320540"/>
            <a:ext cx="320040" cy="32004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9881372" y="4937760"/>
            <a:ext cx="14873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Home-grown</a:t>
            </a:r>
            <a:endParaRPr lang="en-US" sz="1500" dirty="0"/>
          </a:p>
        </p:txBody>
      </p:sp>
      <p:sp>
        <p:nvSpPr>
          <p:cNvPr id="48" name="Text 41"/>
          <p:cNvSpPr txBox="1"/>
          <p:nvPr/>
        </p:nvSpPr>
        <p:spPr>
          <a:xfrm>
            <a:off x="9881372" y="5257800"/>
            <a:ext cx="14873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by our own talent, with no external trainers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Program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PER LEARNER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6002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80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MONTHS, NOVEMBER TO DECEMBER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931920"/>
            <a:ext cx="101955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3694176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63776" y="36941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6377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3459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52880" y="3063240"/>
            <a:ext cx="1097280" cy="347472"/>
          </a:xfrm>
          <a:prstGeom prst="roundRect">
            <a:avLst>
              <a:gd name="adj" fmla="val 26316"/>
            </a:avLst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5288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96616" y="3694176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89661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6743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29456" y="36941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02945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70027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18560" y="3063240"/>
            <a:ext cx="1097280" cy="347472"/>
          </a:xfrm>
          <a:prstGeom prst="roundRect">
            <a:avLst>
              <a:gd name="adj" fmla="val 26316"/>
            </a:avLst>
          </a:prstGeom>
          <a:solidFill>
            <a:schemeClr val="accent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1856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62296" y="3694176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6229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3311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95136" y="36941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9513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96595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84240" y="3063240"/>
            <a:ext cx="1097280" cy="347472"/>
          </a:xfrm>
          <a:prstGeom prst="roundRect">
            <a:avLst>
              <a:gd name="adj" fmla="val 26316"/>
            </a:avLst>
          </a:prstGeom>
          <a:solidFill>
            <a:schemeClr val="accent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98424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27976" y="3694176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2797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09879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560816" y="36941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6081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23163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249920" y="3063240"/>
            <a:ext cx="1097280" cy="347472"/>
          </a:xfrm>
          <a:prstGeom prst="roundRect">
            <a:avLst>
              <a:gd name="adj" fmla="val 26316"/>
            </a:avLst>
          </a:prstGeom>
          <a:solidFill>
            <a:schemeClr val="accent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4992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693656" y="3694176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69365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36447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826496" y="36941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0826496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497312" y="42976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515600" y="3063240"/>
            <a:ext cx="1097280" cy="347472"/>
          </a:xfrm>
          <a:prstGeom prst="roundRect">
            <a:avLst>
              <a:gd name="adj" fmla="val 26316"/>
            </a:avLst>
          </a:prstGeom>
          <a:solidFill>
            <a:schemeClr val="accent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51560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4846320"/>
            <a:ext cx="54000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48640" y="4846320"/>
            <a:ext cx="540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 ·  SESSIONS 1–5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040120" y="4846320"/>
            <a:ext cx="5602935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040120" y="4846320"/>
            <a:ext cx="5602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 ·  SESSIONS 6–10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5623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10 words per session   ·   Progress tracked in each learner's Language Passport   ·   Recognition in December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Language Champion</a:t>
            </a:r>
            <a:endParaRPr lang="en-US" sz="3000" dirty="0"/>
          </a:p>
        </p:txBody>
      </p:sp>
      <p:sp>
        <p:nvSpPr>
          <p:cNvPr id="4" name="Champion profile panel"/>
          <p:cNvSpPr/>
          <p:nvPr/>
        </p:nvSpPr>
        <p:spPr>
          <a:xfrm>
            <a:off x="548640" y="1600200"/>
            <a:ext cx="4297680" cy="4434840"/>
          </a:xfrm>
          <a:prstGeom prst="roundRect">
            <a:avLst>
              <a:gd name="adj" fmla="val 2128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halkboardTeach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717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CHAMPION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20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· Share · Support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526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fluent colleague who teaches their language, and the culture behind it, to fellow employees.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25780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User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18630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172200" y="16916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172200" y="1984248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or fluent speakers of Arabic, Turkish, French, Urdu or Spanish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257800" y="27889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29603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72200" y="27889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172200" y="3081528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Champions per language: 10 in total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257800" y="3886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BookOpe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4057650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172200" y="38862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SIZE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6172200" y="4178808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pair leads one class of 10–15 learners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257800" y="49834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4" descr="GraduationCap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0" y="5154930"/>
            <a:ext cx="342900" cy="342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172200" y="4983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6172200" y="5276088"/>
            <a:ext cx="5468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teaching experience needed: L&amp;D provides training and a session kit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 Roles and Responsibilities</a:t>
            </a:r>
            <a:endParaRPr lang="en-US" sz="3000" dirty="0"/>
          </a:p>
        </p:txBody>
      </p:sp>
      <p:sp>
        <p:nvSpPr>
          <p:cNvPr id="4" name="Duty Co-design"/>
          <p:cNvSpPr/>
          <p:nvPr/>
        </p:nvSpPr>
        <p:spPr>
          <a:xfrm>
            <a:off x="548640" y="1645920"/>
            <a:ext cx="3515258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encilRul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1374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6596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Co-design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the 10 sessions with your co-Champion and L&amp;D</a:t>
            </a:r>
            <a:endParaRPr lang="en-US" sz="1400" dirty="0"/>
          </a:p>
        </p:txBody>
      </p:sp>
      <p:sp>
        <p:nvSpPr>
          <p:cNvPr id="9" name="Duty Lead"/>
          <p:cNvSpPr/>
          <p:nvPr/>
        </p:nvSpPr>
        <p:spPr>
          <a:xfrm>
            <a:off x="4338218" y="1645920"/>
            <a:ext cx="3515258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8258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ChalkboardTeach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708" y="21374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26938" y="196596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58258" y="28346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words, pronunciation, a game and a culture moment in each session</a:t>
            </a:r>
            <a:endParaRPr lang="en-US" sz="1400" dirty="0"/>
          </a:p>
        </p:txBody>
      </p:sp>
      <p:sp>
        <p:nvSpPr>
          <p:cNvPr id="14" name="Duty Track"/>
          <p:cNvSpPr/>
          <p:nvPr/>
        </p:nvSpPr>
        <p:spPr>
          <a:xfrm>
            <a:off x="8127797" y="1645920"/>
            <a:ext cx="3515258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7837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asspor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287" y="21374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16517" y="196596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47837" y="28346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off learners' Passport checkpoints every two sessions</a:t>
            </a:r>
            <a:endParaRPr lang="en-US" sz="1400" dirty="0"/>
          </a:p>
        </p:txBody>
      </p:sp>
      <p:sp>
        <p:nvSpPr>
          <p:cNvPr id="19" name="Duty Encourage"/>
          <p:cNvSpPr/>
          <p:nvPr/>
        </p:nvSpPr>
        <p:spPr>
          <a:xfrm>
            <a:off x="548640" y="3931920"/>
            <a:ext cx="3515258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Comment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4234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425196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Encourage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1206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warm, constructive feedback, with no public ranking</a:t>
            </a:r>
            <a:endParaRPr lang="en-US" sz="1400" dirty="0"/>
          </a:p>
        </p:txBody>
      </p:sp>
      <p:sp>
        <p:nvSpPr>
          <p:cNvPr id="24" name="Duty Share"/>
          <p:cNvSpPr/>
          <p:nvPr/>
        </p:nvSpPr>
        <p:spPr>
          <a:xfrm>
            <a:off x="4338218" y="3931920"/>
            <a:ext cx="3515258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58258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GlobeAmerica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708" y="442341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526938" y="425196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4658258" y="51206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stories and customs behind the words</a:t>
            </a:r>
            <a:endParaRPr lang="en-US" sz="1400" dirty="0"/>
          </a:p>
        </p:txBody>
      </p:sp>
      <p:sp>
        <p:nvSpPr>
          <p:cNvPr id="29" name="Duty Commit"/>
          <p:cNvSpPr/>
          <p:nvPr/>
        </p:nvSpPr>
        <p:spPr>
          <a:xfrm>
            <a:off x="8127797" y="3931920"/>
            <a:ext cx="3515258" cy="205740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7837" y="4251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Calendar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287" y="442341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16517" y="4251960"/>
            <a:ext cx="2052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</a:t>
            </a:r>
            <a:endParaRPr lang="en-US" sz="2200" dirty="0"/>
          </a:p>
        </p:txBody>
      </p:sp>
      <p:sp>
        <p:nvSpPr>
          <p:cNvPr id="33" name="Text 25"/>
          <p:cNvSpPr txBox="1"/>
          <p:nvPr/>
        </p:nvSpPr>
        <p:spPr>
          <a:xfrm>
            <a:off x="8447837" y="512064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 a 90-min orientation, a 2-hour planning workshop and 10 sessions of [session length]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BENEFITS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Champions Gain</a:t>
            </a:r>
            <a:endParaRPr lang="en-US" sz="3000" dirty="0"/>
          </a:p>
        </p:txBody>
      </p:sp>
      <p:sp>
        <p:nvSpPr>
          <p:cNvPr id="4" name="Benefit Skill Development"/>
          <p:cNvSpPr/>
          <p:nvPr/>
        </p:nvSpPr>
        <p:spPr>
          <a:xfrm>
            <a:off x="548640" y="1645920"/>
            <a:ext cx="3515258" cy="43891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GraduationC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1089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Development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069080"/>
            <a:ext cx="27837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Facilitation and coaching training from L&amp;D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speaking and group leadership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ready-made session kit</a:t>
            </a:r>
            <a:endParaRPr lang="en-US" sz="1500" dirty="0"/>
          </a:p>
        </p:txBody>
      </p:sp>
      <p:sp>
        <p:nvSpPr>
          <p:cNvPr id="9" name="Benefit Recognition"/>
          <p:cNvSpPr/>
          <p:nvPr/>
        </p:nvSpPr>
        <p:spPr>
          <a:xfrm>
            <a:off x="4338218" y="1645920"/>
            <a:ext cx="3515258" cy="4389120"/>
          </a:xfrm>
          <a:prstGeom prst="roundRect">
            <a:avLst>
              <a:gd name="adj" fmla="val 2601"/>
            </a:avLst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4703978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Awa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578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3978" y="31089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703978" y="4069080"/>
            <a:ext cx="27837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Champion pin and certificate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appreciation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Celebrated at the December event</a:t>
            </a:r>
            <a:endParaRPr lang="en-US" sz="1500" dirty="0"/>
          </a:p>
        </p:txBody>
      </p:sp>
      <p:sp>
        <p:nvSpPr>
          <p:cNvPr id="14" name="Benefit Networking"/>
          <p:cNvSpPr/>
          <p:nvPr/>
        </p:nvSpPr>
        <p:spPr>
          <a:xfrm>
            <a:off x="8127797" y="1645920"/>
            <a:ext cx="3515258" cy="43891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93557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NetworkWir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157" y="2240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93557" y="31089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8493557" y="4069080"/>
            <a:ext cx="27837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across every shop and department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Friendships across 31+ nationalities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with site leadership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JOIN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Selection Process,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58082" y="2057400"/>
            <a:ext cx="887553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2322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2322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52242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2242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online application through the registration link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5122" y="4023360"/>
            <a:ext cx="164592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5122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Mon 12 Oct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11205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11205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871125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check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71125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confirms the five eligibility gates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54005" y="4023360"/>
            <a:ext cx="164592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54005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13 Oct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30088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3008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090008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review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90008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HR, L&amp;D and site leadership score each application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72888" y="4023360"/>
            <a:ext cx="164592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72888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13 Oct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48971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48971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308891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08891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friendly 10-minute chat and teach-back for the shortlist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91771" y="4023360"/>
            <a:ext cx="164592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91771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13 Oct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167854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6785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9527774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527774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Champions and one reserve per language; everyone notified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710654" y="4023360"/>
            <a:ext cx="164592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710654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Tue 13 Oct</a:t>
            </a:r>
            <a:endParaRPr lang="en-US" sz="1200" dirty="0"/>
          </a:p>
        </p:txBody>
      </p:sp>
      <p:sp>
        <p:nvSpPr>
          <p:cNvPr id="35" name="Native Buddy note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680" y="5001768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7" name="Image 0" descr="HandsHelp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184648"/>
            <a:ext cx="365760" cy="36576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828800" y="484632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selected this round? You'll be invited to be a Native Buddy, helping learners practice between sessions.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Timeline and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3657600"/>
            <a:ext cx="8716975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3246120"/>
            <a:ext cx="0" cy="26517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3511296"/>
            <a:ext cx="292608" cy="292608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Milestone SUN 11 OCT"/>
          <p:cNvSpPr/>
          <p:nvPr/>
        </p:nvSpPr>
        <p:spPr>
          <a:xfrm>
            <a:off x="548640" y="1600200"/>
            <a:ext cx="23774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11 OCT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open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 email and shift-huddle reveal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90189" y="3803904"/>
            <a:ext cx="0" cy="26517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3885" y="3511296"/>
            <a:ext cx="292608" cy="292608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Milestone MON 12 OCT"/>
          <p:cNvSpPr/>
          <p:nvPr/>
        </p:nvSpPr>
        <p:spPr>
          <a:xfrm>
            <a:off x="2001469" y="4069080"/>
            <a:ext cx="23774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30069" y="4251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12 OCT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30069" y="4480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close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230069" y="5074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End-of-shift deadline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43018" y="3246120"/>
            <a:ext cx="0" cy="26517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6714" y="3511296"/>
            <a:ext cx="292608" cy="292608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Milestone TUE 13 OCT"/>
          <p:cNvSpPr/>
          <p:nvPr/>
        </p:nvSpPr>
        <p:spPr>
          <a:xfrm>
            <a:off x="3454298" y="1600200"/>
            <a:ext cx="23774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82898" y="1783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13 OCT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82898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Champions selected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682898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review, conversations and notifications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5848" y="3803904"/>
            <a:ext cx="0" cy="26517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9544" y="3511296"/>
            <a:ext cx="292608" cy="292608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Milestone WED 14 OCT"/>
          <p:cNvSpPr/>
          <p:nvPr/>
        </p:nvSpPr>
        <p:spPr>
          <a:xfrm>
            <a:off x="4907128" y="4069080"/>
            <a:ext cx="23774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35728" y="4251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14 OCT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135728" y="4480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35728" y="5074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trained by L&amp;D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48677" y="3246120"/>
            <a:ext cx="0" cy="26517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2373" y="3511296"/>
            <a:ext cx="292608" cy="292608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Milestone SUN 18 OCT"/>
          <p:cNvSpPr/>
          <p:nvPr/>
        </p:nvSpPr>
        <p:spPr>
          <a:xfrm>
            <a:off x="6359957" y="1600200"/>
            <a:ext cx="23774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8557" y="1783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18 OCT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88557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Co-design workshop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588557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sessions planned; kickoff date locked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001506" y="3803904"/>
            <a:ext cx="0" cy="26517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5202" y="3511296"/>
            <a:ext cx="292608" cy="29260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7" name="Milestone NOVEMBER"/>
          <p:cNvSpPr/>
          <p:nvPr/>
        </p:nvSpPr>
        <p:spPr>
          <a:xfrm>
            <a:off x="7812786" y="4069080"/>
            <a:ext cx="237744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1386" y="4251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041386" y="4480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kickoff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041386" y="5074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1–5; checkpoints 1–2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454335" y="3246120"/>
            <a:ext cx="0" cy="265176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08031" y="3511296"/>
            <a:ext cx="292608" cy="29260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43" name="Milestone DECEMBER"/>
          <p:cNvSpPr/>
          <p:nvPr/>
        </p:nvSpPr>
        <p:spPr>
          <a:xfrm>
            <a:off x="9265615" y="1600200"/>
            <a:ext cx="2377440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494215" y="1783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494215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and celebrate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9494215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6–10, evaluation and recognition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October: recruit and prepare   ·   November–December: the program runs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Up. Your Language Matters.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Lin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47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214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REGISTRATION LINK]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C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898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1729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12 October, end of shift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Comment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2245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[HR contact name and email]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 new word creates a new connection.”</a:t>
            </a:r>
            <a:endParaRPr lang="en-US" sz="2600" dirty="0"/>
          </a:p>
        </p:txBody>
      </p:sp>
      <p:sp>
        <p:nvSpPr>
          <p:cNvPr id="17" name="QR placeholder"/>
          <p:cNvSpPr/>
          <p:nvPr/>
        </p:nvSpPr>
        <p:spPr>
          <a:xfrm>
            <a:off x="8503920" y="1783080"/>
            <a:ext cx="3017520" cy="301752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dash"/>
          </a:ln>
        </p:spPr>
      </p:sp>
      <p:pic>
        <p:nvPicPr>
          <p:cNvPr id="18" name="Image 3" descr="QR code placehol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514600"/>
            <a:ext cx="1097280" cy="10972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5039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873252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the code for the registration link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417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880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Announcement Email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3886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motivating, company-wide call for Language Champions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EMAIL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Email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47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11 October, right after the shift-huddle reveal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32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[Sender name and title]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18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AMP-2 employees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044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Huddles, QR posters and screens for the shop floor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90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Arabic, Turkish, French, Urdu or Spanish? Become a Language Champion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212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SUBJECT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58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language can connect our team. Apply by Monday 12 October</a:t>
            </a:r>
            <a:endParaRPr lang="en-US" sz="1300" dirty="0"/>
          </a:p>
        </p:txBody>
      </p:sp>
      <p:sp>
        <p:nvSpPr>
          <p:cNvPr id="16" name="Email mockup"/>
          <p:cNvSpPr/>
          <p:nvPr/>
        </p:nvSpPr>
        <p:spPr>
          <a:xfrm>
            <a:off x="4846320" y="1645920"/>
            <a:ext cx="6796735" cy="4434840"/>
          </a:xfrm>
          <a:prstGeom prst="roundRect">
            <a:avLst>
              <a:gd name="adj" fmla="val 2062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828800"/>
            <a:ext cx="6430975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12080" y="1892808"/>
            <a:ext cx="6065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Arabic, Turkish, French, Urdu or Spanish? Become a Language Champion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[Sender name]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834640"/>
            <a:ext cx="6065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colleagues,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154680"/>
            <a:ext cx="6065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day, more than 31 nationalities work side by side at AMP-2. Today we're launching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Champion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peer-to-peer program where colleagues teach colleagues: 100 words, 10 sessions, one language at a time.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looking for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Language Champions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two for each of our five languages.</a:t>
            </a:r>
            <a:endParaRPr lang="en-US" sz="1300" dirty="0"/>
          </a:p>
        </p:txBody>
      </p:sp>
      <p:sp>
        <p:nvSpPr>
          <p:cNvPr id="21" name="Apply button"/>
          <p:cNvSpPr/>
          <p:nvPr/>
        </p:nvSpPr>
        <p:spPr>
          <a:xfrm>
            <a:off x="5212080" y="4709160"/>
            <a:ext cx="521208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12080" y="47091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HERE  →  [INSERT REGISTRATION LINK]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5394960"/>
            <a:ext cx="6065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Monday 12 October, end of shift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EMAIL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Email</a:t>
            </a:r>
            <a:endParaRPr lang="en-US" sz="3000" dirty="0"/>
          </a:p>
        </p:txBody>
      </p:sp>
      <p:sp>
        <p:nvSpPr>
          <p:cNvPr id="4" name="Our Five Languages"/>
          <p:cNvSpPr/>
          <p:nvPr/>
        </p:nvSpPr>
        <p:spPr>
          <a:xfrm>
            <a:off x="548640" y="1645920"/>
            <a:ext cx="5410048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Langua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002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745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Five Languages</a:t>
            </a:r>
            <a:endParaRPr lang="en-US" sz="1900" dirty="0"/>
          </a:p>
        </p:txBody>
      </p:sp>
      <p:sp>
        <p:nvSpPr>
          <p:cNvPr id="8" name="Who Should Apply"/>
          <p:cNvSpPr/>
          <p:nvPr/>
        </p:nvSpPr>
        <p:spPr>
          <a:xfrm>
            <a:off x="6233008" y="1645920"/>
            <a:ext cx="5410048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07328" y="18745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User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0002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47408" y="18745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Apply</a:t>
            </a:r>
            <a:endParaRPr lang="en-US" sz="1900" dirty="0"/>
          </a:p>
        </p:txBody>
      </p:sp>
      <p:sp>
        <p:nvSpPr>
          <p:cNvPr id="12" name="What You'll Gain"/>
          <p:cNvSpPr/>
          <p:nvPr/>
        </p:nvSpPr>
        <p:spPr>
          <a:xfrm>
            <a:off x="548640" y="3931920"/>
            <a:ext cx="5410048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Awar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428625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41605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Gain</a:t>
            </a:r>
            <a:endParaRPr lang="en-US" sz="1900" dirty="0"/>
          </a:p>
        </p:txBody>
      </p:sp>
      <p:sp>
        <p:nvSpPr>
          <p:cNvPr id="16" name="How Selection Works"/>
          <p:cNvSpPr/>
          <p:nvPr/>
        </p:nvSpPr>
        <p:spPr>
          <a:xfrm>
            <a:off x="6233008" y="3931920"/>
            <a:ext cx="5410048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07328" y="416052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3" descr="Clipboard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28625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47408" y="41605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Selection Works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822960" y="2542032"/>
            <a:ext cx="859536" cy="347472"/>
          </a:xfrm>
          <a:prstGeom prst="roundRect">
            <a:avLst>
              <a:gd name="adj" fmla="val 26316"/>
            </a:avLst>
          </a:prstGeom>
          <a:solidFill>
            <a:schemeClr val="bg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22960" y="2542032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1819656" y="2542032"/>
            <a:ext cx="964692" cy="347472"/>
          </a:xfrm>
          <a:prstGeom prst="roundRect">
            <a:avLst>
              <a:gd name="adj" fmla="val 26316"/>
            </a:avLst>
          </a:prstGeom>
          <a:solidFill>
            <a:schemeClr val="bg2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1819656" y="2542032"/>
            <a:ext cx="9646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Turkish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2921508" y="2542032"/>
            <a:ext cx="859536" cy="347472"/>
          </a:xfrm>
          <a:prstGeom prst="roundRect">
            <a:avLst>
              <a:gd name="adj" fmla="val 26316"/>
            </a:avLst>
          </a:prstGeom>
          <a:solidFill>
            <a:schemeClr val="bg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2921508" y="2542032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3918204" y="2542032"/>
            <a:ext cx="649224" cy="347472"/>
          </a:xfrm>
          <a:prstGeom prst="roundRect">
            <a:avLst>
              <a:gd name="adj" fmla="val 26316"/>
            </a:avLst>
          </a:prstGeom>
          <a:solidFill>
            <a:schemeClr val="bg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3918204" y="2542032"/>
            <a:ext cx="64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Urdu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704588" y="2542032"/>
            <a:ext cx="964692" cy="347472"/>
          </a:xfrm>
          <a:prstGeom prst="roundRect">
            <a:avLst>
              <a:gd name="adj" fmla="val 26316"/>
            </a:avLst>
          </a:prstGeom>
          <a:solidFill>
            <a:schemeClr val="bg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4704588" y="2542032"/>
            <a:ext cx="9646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299923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Greetings: marhaba · merhaba · bonjour · khush amadeed · hola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32918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learn instead? Learners register at [INSERT LEARNER REGISTRATION LINK]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507328" y="251460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or fluent in one of the five languages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Patient, encouraging and clear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all 10 sessions, plus 14 and 18 October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teaching experience needed: L&amp;D trains you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822960" y="480060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development: facilitation and coaching training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Recognition: Champion pin, certificate, December celebration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Networking: connections across every shop and nationality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6507328" y="480060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by Monday 12 October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scores against published criteria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10-minute conversation on Tuesday 13 October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hears back by end of Tuesday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417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8803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Committee Selection Criteria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3886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fair, transparent framework for choosing our Language Champions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Committee and the Eligibility Gates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SELECTION COMMITTEE</a:t>
            </a:r>
            <a:endParaRPr lang="en-US" sz="1100" dirty="0"/>
          </a:p>
        </p:txBody>
      </p:sp>
      <p:sp>
        <p:nvSpPr>
          <p:cNvPr id="5" name="Role Chair · HR"/>
          <p:cNvSpPr/>
          <p:nvPr/>
        </p:nvSpPr>
        <p:spPr>
          <a:xfrm>
            <a:off x="548640" y="1920240"/>
            <a:ext cx="29260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UserTi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1488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 · HR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88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017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process and records decisions</a:t>
            </a:r>
            <a:endParaRPr lang="en-US" sz="1200" dirty="0"/>
          </a:p>
        </p:txBody>
      </p:sp>
      <p:sp>
        <p:nvSpPr>
          <p:cNvPr id="11" name="Role L&amp;D representative"/>
          <p:cNvSpPr/>
          <p:nvPr/>
        </p:nvSpPr>
        <p:spPr>
          <a:xfrm>
            <a:off x="3657600" y="1920240"/>
            <a:ext cx="29260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886200" y="21488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1" descr="GraduationCa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2860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21488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L&amp;D representative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886200" y="2788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886200" y="3017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Assesses teaching and facilitation potential</a:t>
            </a:r>
            <a:endParaRPr lang="en-US" sz="1200" dirty="0"/>
          </a:p>
        </p:txBody>
      </p:sp>
      <p:sp>
        <p:nvSpPr>
          <p:cNvPr id="17" name="Role Site leadership delegate"/>
          <p:cNvSpPr/>
          <p:nvPr/>
        </p:nvSpPr>
        <p:spPr>
          <a:xfrm>
            <a:off x="548640" y="3794760"/>
            <a:ext cx="29260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Briefc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3040" y="40233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leadership delegate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4663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4892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voice; supports manager release</a:t>
            </a:r>
            <a:endParaRPr lang="en-US" sz="1200" dirty="0"/>
          </a:p>
        </p:txBody>
      </p:sp>
      <p:sp>
        <p:nvSpPr>
          <p:cNvPr id="23" name="Role Native-speaker assessors"/>
          <p:cNvSpPr/>
          <p:nvPr/>
        </p:nvSpPr>
        <p:spPr>
          <a:xfrm>
            <a:off x="3657600" y="3794760"/>
            <a:ext cx="29260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4" name="Shape 19"/>
          <p:cNvSpPr/>
          <p:nvPr/>
        </p:nvSpPr>
        <p:spPr>
          <a:xfrm>
            <a:off x="3886200" y="40233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3" descr="Languag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16052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572000" y="40233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Native-speaker assessors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3886200" y="4663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3886200" y="4892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language; rate proficiency only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760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rule: no member scores their own direct report.</a:t>
            </a:r>
            <a:endParaRPr lang="en-US" sz="1200" dirty="0"/>
          </a:p>
        </p:txBody>
      </p:sp>
      <p:sp>
        <p:nvSpPr>
          <p:cNvPr id="30" name="Eligibility gates panel"/>
          <p:cNvSpPr/>
          <p:nvPr/>
        </p:nvSpPr>
        <p:spPr>
          <a:xfrm>
            <a:off x="6903720" y="1600200"/>
            <a:ext cx="4739335" cy="4434840"/>
          </a:xfrm>
          <a:prstGeom prst="roundRect">
            <a:avLst>
              <a:gd name="adj" fmla="val 2062"/>
            </a:avLst>
          </a:prstGeom>
          <a:solidFill>
            <a:schemeClr val="tx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223760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GATES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722376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all five before scoring</a:t>
            </a:r>
            <a:endParaRPr lang="en-US" sz="2000" dirty="0"/>
          </a:p>
        </p:txBody>
      </p:sp>
      <p:sp>
        <p:nvSpPr>
          <p:cNvPr id="33" name="Shape 27"/>
          <p:cNvSpPr/>
          <p:nvPr/>
        </p:nvSpPr>
        <p:spPr>
          <a:xfrm>
            <a:off x="7223760" y="27432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72237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7818120" y="26974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or fluent in one of the five languages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7223760" y="33832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722376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7818120" y="33375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for all 10 sessions, orientation and the workshop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7223760" y="40233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72237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7818120" y="39776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manager supports release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7223760" y="4663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722376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7818120" y="46177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good standing, with no open disciplinary case</a:t>
            </a: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>
            <a:off x="7223760" y="5303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722376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Text 41"/>
          <p:cNvSpPr txBox="1"/>
          <p:nvPr/>
        </p:nvSpPr>
        <p:spPr>
          <a:xfrm>
            <a:off x="7818120" y="52578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submitted by the deadline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100-Point Scorecard</a:t>
            </a:r>
            <a:endParaRPr lang="en-US" sz="3000" dirty="0"/>
          </a:p>
        </p:txBody>
      </p:sp>
      <p:sp>
        <p:nvSpPr>
          <p:cNvPr id="4" name="Weight Language proficiency · 30"/>
          <p:cNvSpPr/>
          <p:nvPr/>
        </p:nvSpPr>
        <p:spPr>
          <a:xfrm>
            <a:off x="548640" y="1600200"/>
            <a:ext cx="332832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3283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proficiency · 30</a:t>
            </a:r>
            <a:endParaRPr lang="en-US" sz="1200" dirty="0"/>
          </a:p>
        </p:txBody>
      </p:sp>
      <p:sp>
        <p:nvSpPr>
          <p:cNvPr id="6" name="Weight Teaching and mentoring · 25"/>
          <p:cNvSpPr/>
          <p:nvPr/>
        </p:nvSpPr>
        <p:spPr>
          <a:xfrm>
            <a:off x="3876965" y="1600200"/>
            <a:ext cx="2773604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76965" y="1600200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and mentoring · 25</a:t>
            </a:r>
            <a:endParaRPr lang="en-US" sz="1200" dirty="0"/>
          </a:p>
        </p:txBody>
      </p:sp>
      <p:sp>
        <p:nvSpPr>
          <p:cNvPr id="8" name="Weight Communication · 25"/>
          <p:cNvSpPr/>
          <p:nvPr/>
        </p:nvSpPr>
        <p:spPr>
          <a:xfrm>
            <a:off x="6650568" y="1600200"/>
            <a:ext cx="2773604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50568" y="1600200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· 25</a:t>
            </a:r>
            <a:endParaRPr lang="en-US" sz="1200" dirty="0"/>
          </a:p>
        </p:txBody>
      </p:sp>
      <p:sp>
        <p:nvSpPr>
          <p:cNvPr id="10" name="Weight Availability · 20"/>
          <p:cNvSpPr/>
          <p:nvPr/>
        </p:nvSpPr>
        <p:spPr>
          <a:xfrm>
            <a:off x="9424172" y="1600200"/>
            <a:ext cx="2218883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24172" y="1600200"/>
            <a:ext cx="22188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· 20</a:t>
            </a:r>
            <a:endParaRPr lang="en-US" sz="1200" dirty="0"/>
          </a:p>
        </p:txBody>
      </p:sp>
      <p:graphicFrame>
        <p:nvGraphicFramePr>
          <p:cNvPr id="20" name="Scoreca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68680"/>
                <a:gridCol w="3291840"/>
                <a:gridCol w="2514600"/>
                <a:gridCol w="231617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applicant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flags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assess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 proficiency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or near-native; explains meaning, pronunciation and usage with ease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Conversational only; unsure why words are used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Native-speaker assessor's 3-minute check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Willingness and ability to teach or mentor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 personal motivation; has trained, coached or onboarded others; patient with mistakes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Motivated mainly by recognition; impatient or corrective tone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answers and teach-back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Communication and interpersonal skills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Explains simply in a shared language; warm and inclusive; checks understanding; works well with a co-Champion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 to follow; talks over others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Teach-back and scenario question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and commitment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pattern fits session slots; manager supportive; known for following through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shift clashes; history of dropped commitments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and manager input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each criterion 1–4 (see next slide).   Points = Weight × Rating ÷ 4.   Total = 100.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Scale and the 10-Minute Conversation</a:t>
            </a:r>
            <a:endParaRPr lang="en-US" sz="3000" dirty="0"/>
          </a:p>
        </p:txBody>
      </p:sp>
      <p:sp>
        <p:nvSpPr>
          <p:cNvPr id="4" name="Rating scale panel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name="adj" fmla="val 20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1C254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SCALE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40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2377440"/>
            <a:ext cx="1828800" cy="228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2240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620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862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34640" y="2999232"/>
            <a:ext cx="1371600" cy="2286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286207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4838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4838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34640" y="3621024"/>
            <a:ext cx="914400" cy="2286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34838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1056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10565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834640" y="4242816"/>
            <a:ext cx="457200" cy="2286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410565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4800600"/>
            <a:ext cx="4480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= Weight × Rating ÷ 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303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Communication rated 3 → 25 × 3 ÷ 4 = 18.75 points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16002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10-MINUTE CONVERSATION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1920240"/>
            <a:ext cx="1139891" cy="457200"/>
          </a:xfrm>
          <a:prstGeom prst="rect">
            <a:avLst/>
          </a:prstGeom>
          <a:solidFill>
            <a:schemeClr val="tx2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1920240"/>
            <a:ext cx="1139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83491" y="1920240"/>
            <a:ext cx="1709837" cy="4572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83491" y="1920240"/>
            <a:ext cx="17098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93328" y="1920240"/>
            <a:ext cx="1709837" cy="45720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93328" y="1920240"/>
            <a:ext cx="17098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503164" y="1920240"/>
            <a:ext cx="1139891" cy="4572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03164" y="1920240"/>
            <a:ext cx="1139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200" dirty="0"/>
          </a:p>
        </p:txBody>
      </p:sp>
      <p:sp>
        <p:nvSpPr>
          <p:cNvPr id="34" name="Conversation 1"/>
          <p:cNvSpPr/>
          <p:nvPr/>
        </p:nvSpPr>
        <p:spPr>
          <a:xfrm>
            <a:off x="5943600" y="2606040"/>
            <a:ext cx="569945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72200" y="26974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Motivation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29535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do you want to be a Language Champion?”</a:t>
            </a:r>
            <a:endParaRPr lang="en-US" sz="1200" dirty="0"/>
          </a:p>
        </p:txBody>
      </p:sp>
      <p:sp>
        <p:nvSpPr>
          <p:cNvPr id="37" name="Conversation 2"/>
          <p:cNvSpPr/>
          <p:nvPr/>
        </p:nvSpPr>
        <p:spPr>
          <a:xfrm>
            <a:off x="5943600" y="3474720"/>
            <a:ext cx="569945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72200" y="3566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Teach-back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38221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“Teach us three greetings as if we were brand-new learners.” The native-speaker assessor joins.</a:t>
            </a:r>
            <a:endParaRPr lang="en-US" sz="1200" dirty="0"/>
          </a:p>
        </p:txBody>
      </p:sp>
      <p:sp>
        <p:nvSpPr>
          <p:cNvPr id="40" name="Conversation 3"/>
          <p:cNvSpPr/>
          <p:nvPr/>
        </p:nvSpPr>
        <p:spPr>
          <a:xfrm>
            <a:off x="5943600" y="4343400"/>
            <a:ext cx="569945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172200" y="44348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Scenario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172200" y="46908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learner is shy and keeps repeating the same mistake. What do you do?”</a:t>
            </a:r>
            <a:endParaRPr lang="en-US" sz="1200" dirty="0"/>
          </a:p>
        </p:txBody>
      </p:sp>
      <p:sp>
        <p:nvSpPr>
          <p:cNvPr id="43" name="Conversation 4"/>
          <p:cNvSpPr/>
          <p:nvPr/>
        </p:nvSpPr>
        <p:spPr>
          <a:xfrm>
            <a:off x="5943600" y="5212080"/>
            <a:ext cx="569945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172200" y="5303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Practicalities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172200" y="55595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pattern, availability and the applicant's questions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0" cy="35661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45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independently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member rates every applicant alone first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5915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scores together, one language at a time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07238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threshold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60 / 100 to be selected (suggested)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7856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two per language become Champions; the third is the reserve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4988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chair logs each decision with a one-line rationale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12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hears back by end of Tue 13 Oct; others invited as Native Buddies</a:t>
            </a:r>
            <a:endParaRPr lang="en-US" sz="1500" dirty="0"/>
          </a:p>
        </p:txBody>
      </p:sp>
      <p:sp>
        <p:nvSpPr>
          <p:cNvPr id="23" name="Tie-breakers"/>
          <p:cNvSpPr/>
          <p:nvPr/>
        </p:nvSpPr>
        <p:spPr>
          <a:xfrm>
            <a:off x="7498080" y="1645920"/>
            <a:ext cx="4144975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TIE-BREAKERS, IN ORDER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23317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Communication score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0" y="28346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2834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spread across shops and shifts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0" y="33375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teaching or mentoring experience</a:t>
            </a:r>
            <a:endParaRPr lang="en-US" sz="1400" dirty="0"/>
          </a:p>
        </p:txBody>
      </p:sp>
      <p:sp>
        <p:nvSpPr>
          <p:cNvPr id="34" name="Contingency"/>
          <p:cNvSpPr/>
          <p:nvPr/>
        </p:nvSpPr>
        <p:spPr>
          <a:xfrm>
            <a:off x="7498080" y="4160520"/>
            <a:ext cx="4144975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0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LANGUAGE IS SHORT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47091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than two qualified applicants? Invite directly through managers and extend that language's window by one 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Committee Scoring Sheet</a:t>
            </a:r>
            <a:endParaRPr lang="en-US" sz="3000" dirty="0"/>
          </a:p>
        </p:txBody>
      </p:sp>
      <p:graphicFrame>
        <p:nvGraphicFramePr>
          <p:cNvPr id="23" name="Scoring she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34440"/>
                <a:gridCol w="1234440"/>
                <a:gridCol w="1371600"/>
                <a:gridCol w="1280160"/>
                <a:gridCol w="1005840"/>
                <a:gridCol w="13103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Proficiency (30)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Teaching (25)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Communication (25)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(20)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(100)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7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32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CODES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40280" y="5532120"/>
            <a:ext cx="1097280" cy="365760"/>
          </a:xfrm>
          <a:prstGeom prst="roundRect">
            <a:avLst>
              <a:gd name="adj" fmla="val 25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40280" y="5532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5532120"/>
            <a:ext cx="1005840" cy="36576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20440" y="5532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5532120"/>
            <a:ext cx="1463040" cy="36576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09160" y="5532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Buddy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55080" y="5532120"/>
            <a:ext cx="146304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55080" y="5532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selected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LAUNCH  ·  COMPLETE BY THURSDAY 8 OCTOBER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link and QR code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496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registration link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2095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name and title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959352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9227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contact for questions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181965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members and native-speaker assessors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09360" y="2532888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2496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length and kickoff date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09360" y="32461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32095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for the five languages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09360" y="3959352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39227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briefing before Sunday's email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920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 new word creates a new connection.”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77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   CONNECT.   BELONG.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uage Champion AMP-2 Lucid">
  <a:themeElements>
    <a:clrScheme name="Language Champion AMP-2 Lucid">
      <a:dk1>
        <a:srgbClr val="1C2541"/>
      </a:dk1>
      <a:lt1>
        <a:srgbClr val="FFFFFF"/>
      </a:lt1>
      <a:dk2>
        <a:srgbClr val="22335A"/>
      </a:dk2>
      <a:lt2>
        <a:srgbClr val="F4EEE5"/>
      </a:lt2>
      <a:accent1>
        <a:srgbClr val="D9772B"/>
      </a:accent1>
      <a:accent2>
        <a:srgbClr val="E5D7C1"/>
      </a:accent2>
      <a:accent3>
        <a:srgbClr val="4A5F86"/>
      </a:accent3>
      <a:accent4>
        <a:srgbClr val="A4511A"/>
      </a:accent4>
      <a:accent5>
        <a:srgbClr val="5B6478"/>
      </a:accent5>
      <a:accent6>
        <a:srgbClr val="C9B79C"/>
      </a:accent6>
      <a:hlink>
        <a:srgbClr val="A4511A"/>
      </a:hlink>
      <a:folHlink>
        <a:srgbClr val="4A5F86"/>
      </a:folHlink>
    </a:clrScheme>
    <a:fontScheme name="Language Champion AMP-2 Luci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AMP-2 Lucid KSA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Champion Program Toolkit</dc:title>
  <dc:subject>PptxGenJS Presentation</dc:subject>
  <dc:creator>AMP-2 Learning and Development</dc:creator>
  <cp:lastModifiedBy>AMP-2 Learning and Development</cp:lastModifiedBy>
  <cp:revision>1</cp:revision>
  <dcterms:created xsi:type="dcterms:W3CDTF">2026-10-08T20:49:32Z</dcterms:created>
  <dcterms:modified xsi:type="dcterms:W3CDTF">2026-10-08T20:49:32Z</dcterms:modified>
</cp:coreProperties>
</file>